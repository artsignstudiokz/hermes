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BAI CORE · TRADING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200" b="1">
                <a:solidFill>
                  <a:srgbClr val="1B2940"/>
                </a:solidFill>
                <a:latin typeface="Cambria"/>
              </a:rPr>
              <a:t>Hermes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7A5A1E"/>
                </a:solidFill>
                <a:latin typeface="Cambria"/>
              </a:rPr>
              <a:t>Бог торговли. Ваш бот.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7E7163"/>
                </a:solidFill>
                <a:latin typeface="Calibri"/>
              </a:rPr>
              <a:t>Полностью автономный десктоп-бот для MetaTrader 5.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7E7163"/>
                </a:solidFill>
                <a:latin typeface="Calibri"/>
              </a:rPr>
              <a:t>Аналитика, риск-менеджмент и исполнение - на вашем компьютере, без облака.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Презентация функционала · версия 1.0.40 · май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ШАГ 0 · ЗАЧЕМ НУЖЕН HERMES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Ручная торговля - это три проблемы сразу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6B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6B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ЭМОЦИИ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A3328"/>
                </a:solidFill>
                <a:latin typeface="Calibri"/>
              </a:rPr>
              <a:t>Страх и жадность ломают любую стратегию. Трейдер видит просадку - закрывает рано. Видит профит - держит слишком долго.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8600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9B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246888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9B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ВРЕМЯ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01752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A3328"/>
                </a:solidFill>
                <a:latin typeface="Calibri"/>
              </a:rPr>
              <a:t>Рынок работает 24/5. Человек физически не может анализировать 6 пар каждую минуту. Сигналы пропускаются, точки входа уходят.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28600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4C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246888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4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ДИСЦИПЛИНА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01752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A3328"/>
                </a:solidFill>
                <a:latin typeface="Calibri"/>
              </a:rPr>
              <a:t>SL/TP, дневной лимит сделок, размер позиции - правила есть у всех. Соблюдают единицы. Один срыв - и месяц работы насмарку.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Hermes решает все три - спокойно, систематически, без выходных.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ЧТО ТАКОЕ HERMES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Десктоп-приложение, которое торгует за вас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📦 Один установщик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Hermes-Setup.exe двойным кликом. Никаких облачных аккаунтов, никакой регистрации. Бот работает офлайн на вашем ПК.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🔐 MT5 + криптобиржи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MetaTrader 5 уже подключён. CCXT-адаптер для Binance/Bybit готов, активируется в одну строку конфига.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🧠 Объяснимые решения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Бот пишет под каждой сделкой ПОЧЕМУ он её открыл - какие индикаторы согласились, какая стратегия сработала, какая уверенность.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490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🛡️ 3 уровня защиты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976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Risk Engine следит за просадкой, брокерский SL/TP уходит на сервер при открытии, Kill-switch закрывает всё одной кнопкой.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📊 Живой дашборд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Эквити-кривая, открытые позиции, P&amp;L по режимам, состояние пар - всё обновляется в реальном времени через WebSocket.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257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3949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🔁 Самокалибровка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80644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Раз в неделю бот пересматривает параметры стратегий на свежей истории. Walk-forward, автоматический откат если стало хуже.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Один процесс, четыре слоя ответственности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СЛОЙ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860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940"/>
                </a:solidFill>
                <a:latin typeface="Cambria"/>
              </a:rPr>
              <a:t>Frontend (UI)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974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React 18 + Vite + TanStack Query.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Дашборд, сделки, стратегия, бэктест, адаптация, уведомления, настройки.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48716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5A1E"/>
                </a:solidFill>
                <a:latin typeface="Cambria"/>
              </a:rPr>
              <a:t>Ответственность: Что видит и нажимает оператор.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СЛОЙ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3375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940"/>
                </a:solidFill>
                <a:latin typeface="Cambria"/>
              </a:rPr>
              <a:t>Backend (API)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7490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FastAPI + async SQLAlchemy.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REST + WebSocket. Auth, trading, brokers, positions, trades, adaptive, system.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538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5A1E"/>
                </a:solidFill>
                <a:latin typeface="Cambria"/>
              </a:rPr>
              <a:t>Ответственность: Мозг приложения. Принимает команды, отдаёт данные.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590288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СЛОЙ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3891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940"/>
                </a:solidFill>
                <a:latin typeface="Cambria"/>
              </a:rPr>
              <a:t>Trading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006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Worker + StrategyRunner + IndicatorPanel + RiskEngine + StrategyEnsemble.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Раз в 60с: анализ, риск-чек, ордер.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59028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5A1E"/>
                </a:solidFill>
                <a:latin typeface="Cambria"/>
              </a:rPr>
              <a:t>Ответственность: Алгоритм торговли как таковой.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641848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СЛОЙ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440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940"/>
                </a:solidFill>
                <a:latin typeface="Cambria"/>
              </a:rPr>
              <a:t>Brokers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8521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MT5 (нативный SDK) и CCXT (крипта). Watchdog с авто-переподключением. Vault для хранения паролей.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64184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5A1E"/>
                </a:solidFill>
                <a:latin typeface="Cambria"/>
              </a:rPr>
              <a:t>Ответственность: Интерфейс к внешнему миру: котировки, ордера.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РЕЖИМЫ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Три способа торговли - оператор выбирает один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4C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C6B4A"/>
                </a:solidFill>
                <a:latin typeface="Cambria"/>
              </a:rPr>
              <a:t>ПРОВЕРЕННЫЙ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alibri"/>
              </a:rPr>
              <a:t>Одна стратегия, 3-5 пар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54680"/>
            <a:ext cx="3108960" cy="6350"/>
          </a:xfrm>
          <a:prstGeom prst="rect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СТРАТЕГИИ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472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Только TrendFollowing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ПАРЫ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Из конфига (3-5 мажоров)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ПОРОГ УВЕРЕННОСТИ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616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≥ 0.70 (строго)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ЛИМИТ СДЕЛОК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188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1-3 в день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ЛОТ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760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0.5% от эквити (мин 0.01)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ДЛЯ КОГО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332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Консервативно, ровная просадка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2860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468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A5A1E"/>
                </a:solidFill>
                <a:latin typeface="Cambria"/>
              </a:rPr>
              <a:t>АВТОНОМНЫЙ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834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alibri"/>
              </a:rPr>
              <a:t>Все стратегии, любая пара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154680"/>
            <a:ext cx="3108960" cy="6350"/>
          </a:xfrm>
          <a:prstGeom prst="rect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246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СТРАТЕГИИ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4472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Trend + Momentum (по умолчанию)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7033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ПАРЫ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9044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Все включённые в конфиге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1605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ПОРОГ УВЕРЕННОСТИ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3616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≥ 0.50 (умеренно)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6177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ЛИМИТ СДЕЛОК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8188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1-3 в день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0749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ЛОТ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2760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0.5% от эквити (мин 0.01)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5532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ДЛЯ КОГО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57332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Агрессивнее, ищет лучший вход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22860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9B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2468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B7B2D"/>
                </a:solidFill>
                <a:latin typeface="Cambria"/>
              </a:rPr>
              <a:t>ТЕСТ-СДЕЛКА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834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alibri"/>
              </a:rPr>
              <a:t>Разовое открытие для проверки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3154680"/>
            <a:ext cx="3108960" cy="6350"/>
          </a:xfrm>
          <a:prstGeom prst="rect">
            <a:avLst/>
          </a:prstGeom>
          <a:solidFill>
            <a:srgbClr val="9B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3246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СТРАТЕГИИ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4472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Полный ансамбль (как Автономный)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033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ПАРЫ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9044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Все из конфига - бот выбирает лучшую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1605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ПОРОГ УВЕРЕННОСТИ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3616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≥ 0.40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6177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ЛИМИТ СДЕЛОК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8188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Один разовый клик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0749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ЛОТ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52760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0.5% от эквити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5532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A5A1E"/>
                </a:solidFill>
                <a:latin typeface="Consolas"/>
              </a:rPr>
              <a:t>ДЛЯ КОГО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7332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Проверить связь с брокером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ЧТО ДЕЛАЕТ БОТ КАЖДЫЕ 60 СЕКУНД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Цикл одного tick'а - семь шагов подряд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BF7E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Health probe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7860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Проверка что MT5 живой. 3 фейла подряд - пауза + уведомление.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BF7EC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0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OHLCV для каждой пары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8444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Скачиваем 300 свечей по таймфрейму конфига для всех символов.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BF7EC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206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IndicatorPanel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59028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Считаем 19 индикаторов: RSI, MACD, BB, ATR, EMA 50/200, ADX, +DI/-DI, Stochastic, Donchian, ROC и другие.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BF7EC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12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Strategy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59612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4 стратегии формируют сигналы Long/Short/Flat с обоснованием. Голосование (majority/any/all) → одно решение по символу.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194560"/>
            <a:ext cx="502920" cy="50292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BF7EC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Risk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57860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Проверка: дневной убыток &lt; 5%, drawdown &lt; 10%, позиций ≤ 5. Если нарушено - вход запрещён.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BF7EC"/>
                </a:solidFill>
                <a:latin typeface="Cambr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200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Order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58444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Выбирается лучший сигнал по уверенности. Лот = 0.5% эквити, снап под volume_step. SL/TP уходят на сервер брокера.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4206240"/>
            <a:ext cx="502920" cy="50292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BF7EC"/>
                </a:solidFill>
                <a:latin typeface="Cambri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206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Snapshot + Broadcast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59028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EquityPoint + PositionSnapshot пишутся в SQLite. WebSocket рассылает обновления всем подключённым клиентам.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INDICATOR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19 индикаторов на каждой паре каждый тик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896112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МОМЕНТУМ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99232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RSI (Wilder)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383280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Stochastic %K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67328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4845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Stochastic %D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151376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3250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ROC (Rate of Change)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535424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1655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MACD line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919472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MACD signal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303520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8464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MACD hist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2194560"/>
            <a:ext cx="269748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11880" y="2377440"/>
            <a:ext cx="662940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ТРЕНД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2999232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28803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EMA 50 (быстрая)</a:t>
            </a:r>
          </a:p>
        </p:txBody>
      </p:sp>
      <p:sp>
        <p:nvSpPr>
          <p:cNvPr id="26" name="Oval 25"/>
          <p:cNvSpPr/>
          <p:nvPr/>
        </p:nvSpPr>
        <p:spPr>
          <a:xfrm>
            <a:off x="3657600" y="3383280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326440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EMA 200 (медленная)</a:t>
            </a:r>
          </a:p>
        </p:txBody>
      </p:sp>
      <p:sp>
        <p:nvSpPr>
          <p:cNvPr id="28" name="Oval 27"/>
          <p:cNvSpPr/>
          <p:nvPr/>
        </p:nvSpPr>
        <p:spPr>
          <a:xfrm>
            <a:off x="3657600" y="3767328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364845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ADX (сила тренда)</a:t>
            </a:r>
          </a:p>
        </p:txBody>
      </p:sp>
      <p:sp>
        <p:nvSpPr>
          <p:cNvPr id="30" name="Oval 29"/>
          <p:cNvSpPr/>
          <p:nvPr/>
        </p:nvSpPr>
        <p:spPr>
          <a:xfrm>
            <a:off x="3657600" y="4151376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403250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+DI (покупатели)</a:t>
            </a:r>
          </a:p>
        </p:txBody>
      </p:sp>
      <p:sp>
        <p:nvSpPr>
          <p:cNvPr id="32" name="Oval 31"/>
          <p:cNvSpPr/>
          <p:nvPr/>
        </p:nvSpPr>
        <p:spPr>
          <a:xfrm>
            <a:off x="3657600" y="4535424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441655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-DI (продавцы)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194560"/>
            <a:ext cx="269748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46520" y="2377440"/>
            <a:ext cx="1284732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ВОЛАТИЛЬНОСТЬ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2999232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28803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ATR (абсолют)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3383280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26440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ATR% (нормированный)</a:t>
            </a:r>
          </a:p>
        </p:txBody>
      </p:sp>
      <p:sp>
        <p:nvSpPr>
          <p:cNvPr id="40" name="Oval 39"/>
          <p:cNvSpPr/>
          <p:nvPr/>
        </p:nvSpPr>
        <p:spPr>
          <a:xfrm>
            <a:off x="6492240" y="3767328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64845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BB верхняя</a:t>
            </a:r>
          </a:p>
        </p:txBody>
      </p:sp>
      <p:sp>
        <p:nvSpPr>
          <p:cNvPr id="42" name="Oval 41"/>
          <p:cNvSpPr/>
          <p:nvPr/>
        </p:nvSpPr>
        <p:spPr>
          <a:xfrm>
            <a:off x="6492240" y="4151376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03250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BB средняя</a:t>
            </a:r>
          </a:p>
        </p:txBody>
      </p:sp>
      <p:sp>
        <p:nvSpPr>
          <p:cNvPr id="44" name="Oval 43"/>
          <p:cNvSpPr/>
          <p:nvPr/>
        </p:nvSpPr>
        <p:spPr>
          <a:xfrm>
            <a:off x="6492240" y="4535424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41655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BB нижняя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194560"/>
            <a:ext cx="269748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81160" y="2377440"/>
            <a:ext cx="740664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ПРОБОИ</a:t>
            </a:r>
          </a:p>
        </p:txBody>
      </p:sp>
      <p:sp>
        <p:nvSpPr>
          <p:cNvPr id="48" name="Oval 47"/>
          <p:cNvSpPr/>
          <p:nvPr/>
        </p:nvSpPr>
        <p:spPr>
          <a:xfrm>
            <a:off x="9326880" y="2999232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28803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Donchian верхняя</a:t>
            </a:r>
          </a:p>
        </p:txBody>
      </p:sp>
      <p:sp>
        <p:nvSpPr>
          <p:cNvPr id="50" name="Oval 49"/>
          <p:cNvSpPr/>
          <p:nvPr/>
        </p:nvSpPr>
        <p:spPr>
          <a:xfrm>
            <a:off x="9326880" y="3383280"/>
            <a:ext cx="73152" cy="7315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326440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Donchian нижняя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alibri"/>
              </a:rPr>
              <a:t>Стандартные периоды по умолчанию, всё конфигурируется через UI · значения транслируются в /ws/signals для дашборда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STRATEGY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4 независимые стратегии голосуют большинством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486400" cy="1645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1783080" cy="320040"/>
          </a:xfrm>
          <a:prstGeom prst="roundRect">
            <a:avLst>
              <a:gd name="adj" fmla="val 50000"/>
            </a:avLst>
          </a:prstGeom>
          <a:solidFill>
            <a:srgbClr val="4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TREND FOLLOWING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6B4A"/>
                </a:solidFill>
                <a:latin typeface="Consolas"/>
              </a:rPr>
              <a:t>EMA50 vs EMA200 + ADX &gt;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Входит когда EMA быстрая выше/ниже медленной И тренд устойчивый (ADX). Подтверждение через +DI/-DI.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40280"/>
            <a:ext cx="5486400" cy="1645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423160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9B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MEAN REVERSION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B7B2D"/>
                </a:solidFill>
                <a:latin typeface="Consolas"/>
              </a:rPr>
              <a:t>BB-касание + RSI экстремум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Цена коснулась границы Боллинджера И RSI в зоне перепроданности/перекупленности. Подтверждение Stochastic-разворотом.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86400" cy="1645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206240"/>
            <a:ext cx="1078992" cy="320040"/>
          </a:xfrm>
          <a:prstGeom prst="roundRect">
            <a:avLst>
              <a:gd name="adj" fmla="val 50000"/>
            </a:avLst>
          </a:prstGeom>
          <a:solidFill>
            <a:srgbClr val="6B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BREAKOUT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2A36"/>
                </a:solidFill>
                <a:latin typeface="Consolas"/>
              </a:rPr>
              <a:t>Пробой Donchian + ATR-фильтр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Цена пробила канал Дончиана с запасом 0.05%. Только если ATR &gt; 0.08% (фильтр от мёртвого рынка).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23360"/>
            <a:ext cx="5486400" cy="1645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4206240"/>
            <a:ext cx="1078992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MOMENTUM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5A1E"/>
                </a:solidFill>
                <a:latin typeface="Consolas"/>
              </a:rPr>
              <a:t>MACD-гистограмма + Stochastic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MACD-гистограмма положительна/отрицательна И Stochastic пересекает в нужном направлении ниже/выше 50.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E7163"/>
                </a:solidFill>
                <a:latin typeface="Calibri"/>
              </a:rPr>
              <a:t>Голосование majority: ≥50% активных стратегий должны согласиться. Иначе - бот пропускает тик.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Три независимых circuit breaker'а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4C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4C6B4A"/>
                </a:solidFill>
                <a:latin typeface="Cambria"/>
              </a:rPr>
              <a:t>-5%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7A5A1E"/>
                </a:solidFill>
                <a:latin typeface="Consolas"/>
              </a:rPr>
              <a:t>ДНЕВНОЙ УБЫТОК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69079"/>
            <a:ext cx="2743200" cy="6350"/>
          </a:xfrm>
          <a:prstGeom prst="rect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Если эквити упало больше 5% от стартового за сессию - бот перестаёт открывать новые позиции. Старые остаются под защитой брокерских SL.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Сбрасывается в полночь UTC.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9456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9B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3774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9B7B2D"/>
                </a:solidFill>
                <a:latin typeface="Cambria"/>
              </a:rPr>
              <a:t>-10%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7A5A1E"/>
                </a:solidFill>
                <a:latin typeface="Consolas"/>
              </a:rPr>
              <a:t>DRAWDOWN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4069079"/>
            <a:ext cx="2743200" cy="6350"/>
          </a:xfrm>
          <a:prstGeom prst="rect">
            <a:avLst/>
          </a:prstGeom>
          <a:solidFill>
            <a:srgbClr val="9B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206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От пикового эквити сессии. Защита от затяжной просадки: если максимум был 50k и упали до 45k - стоп. Не даёт ансамблю усугубить положение.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669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Сбрасывается только перезапуском.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19456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6B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3774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6B2A36"/>
                </a:solidFill>
                <a:latin typeface="Cambria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7A5A1E"/>
                </a:solidFill>
                <a:latin typeface="Consolas"/>
              </a:rPr>
              <a:t>MAX ПОЗИЦИЙ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4069079"/>
            <a:ext cx="2743200" cy="6350"/>
          </a:xfrm>
          <a:prstGeom prst="rect">
            <a:avLst/>
          </a:prstGeom>
          <a:solidFill>
            <a:srgbClr val="6B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4206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Сколько открытых позиций может быть одновременно. Защита от перегрева портфеля - если 5 уже работают, новые входы блокируются до закрытия одной из них.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669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Считается в реальном времени.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УПРАВЛЕНИЕ ОРДЕРАМИ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От сигнала до исполнения - что происходит с ордером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BF7EC"/>
                </a:solidFill>
                <a:latin typeface="Cambri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240280"/>
            <a:ext cx="10424160" cy="502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331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Сигнал ансамбля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5915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Стратегии согласились: LONG USDJPY, уверенность 0.62.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98648"/>
            <a:ext cx="365760" cy="36576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BF7EC"/>
                </a:solidFill>
                <a:latin typeface="Cambr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807208"/>
            <a:ext cx="10424160" cy="502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8986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Расчёт лота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0.5% × эквити / 100k = ~0.0025. Снапаем под volume_step символа = 0.01.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465576"/>
            <a:ext cx="365760" cy="36576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BF7EC"/>
                </a:solidFill>
                <a:latin typeface="Cambria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374136"/>
            <a:ext cx="10424160" cy="502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46557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Round to step + clamp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93008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round(volume/step)*step. Зажимаем между volume_min и volume_max - брокер не отвергнет с 'Invalid volume'.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032504"/>
            <a:ext cx="365760" cy="36576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BF7EC"/>
                </a:solidFill>
                <a:latin typeface="Cambria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41064"/>
            <a:ext cx="10424160" cy="502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03250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Filling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059936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Читаем symbol_info.filling_mode (битмаска). FOK → IOC → RETURN по предпочтению.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599432"/>
            <a:ext cx="365760" cy="36576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BF7EC"/>
                </a:solidFill>
                <a:latin typeface="Cambria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4507992"/>
            <a:ext cx="10424160" cy="502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5994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SL/TP на брокера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626864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2×ATR стоп, 4×ATR таргет (1:2 R/R). Уходят как абсолютные цены вместе с ордером.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166360"/>
            <a:ext cx="365760" cy="36576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BF7EC"/>
                </a:solidFill>
                <a:latin typeface="Cambria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5074920"/>
            <a:ext cx="10424160" cy="502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51663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order_send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19379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MT5 принимает заявку. Retcode TRADE_RETCODE_DONE = успех. Любой другой - переводим в человеческое сообщение.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733288"/>
            <a:ext cx="365760" cy="36576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BF7EC"/>
                </a:solidFill>
                <a:latin typeface="Cambria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5641848"/>
            <a:ext cx="10424160" cy="50292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57332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Persist + broadcast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7607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TradeRow в SQLite с обоснованием стратегии. WebSocket /ws/signals: 'trade_opened' для UI и Telegram.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ОБЪЯСНИМОСТЬ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Каждая сделка приходит с обоснованием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6424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4023360" cy="320040"/>
          </a:xfrm>
          <a:prstGeom prst="roundRect">
            <a:avLst>
              <a:gd name="adj" fmla="val 50000"/>
            </a:avLst>
          </a:prstGeom>
          <a:solidFill>
            <a:srgbClr val="4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USDJPY · LONG · 0.01 · #285741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940"/>
                </a:solidFill>
                <a:latin typeface="Cambria"/>
              </a:rPr>
              <a:t>LONG по USDJPY: 2 из 2 стратегий согласны (средняя уверенность 0.62).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76472"/>
            <a:ext cx="118872" cy="11887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A5A1E"/>
                </a:solidFill>
                <a:latin typeface="Cambria"/>
              </a:rPr>
              <a:t>Trend Following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77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Быстрая EMA (148.45) выше медленной (147.80) - тренд восходящий. ADX 33.5 (порог 25) подтверждает силу. +DI 28.1 превышает -DI 17.4 - покупатели доминируют.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919472"/>
            <a:ext cx="118872" cy="118872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A5A1E"/>
                </a:solidFill>
                <a:latin typeface="Cambria"/>
              </a:rPr>
              <a:t>Momentum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120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Гистограмма MACD +0.00527 положительна - импульс растёт. Stochastic %K 64.1 пересёк %D 61.4 снизу вверх. Движение наверх набирает обороты.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alibri"/>
              </a:rPr>
              <a:t>Видно в Журнале сделок · хранится в БД · можно добавить свою заметку для разбора post-mortem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ИНТЕРФЕЙС ОПЕРАТОРА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11 экранов - всё что нужно для контроля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🏛️ Дашборд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Баланс, equity-кривая, P&amp;L по режимам, открытые позиции, drawdown, состояние пар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945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2860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📋 Сделки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06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История с обоснованием каждой. Заметки оператора, фильтры, CSV-экспорт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⚙️ Стратегия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06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Выбор активных стратегий, пары, таймфрейм, ансамбль, режим голосования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🔌 Брокеры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MT5/CCXT подключения, тест связи, статус, переподключение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15468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2461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🧪 Бэктест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5661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Прогон на исторических данных, Sharpe/winrate/drawdown, equity-кривая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15468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2461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🎚️ Оптимизация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661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Grid search по параметрам, лидерборд, применение лучшего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🌡️ Адаптация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Регимы пар (trend/flat/high_vol), walk-forward, история калибровок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11480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2062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📱 На телефон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526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QR-код для PWA, статус ngrok-туннеля если включён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11480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2062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🔔 Уведомления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526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Telegram-бот, web-push, выбор событий, тест-сообщение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7492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663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📜 Журнал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486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Лог backend'а, скачать архив для поддержки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507492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51663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🛠️ Настройки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5486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3A3328"/>
                </a:solidFill>
                <a:latin typeface="Calibri"/>
              </a:rPr>
              <a:t>Тема, обновления, переход на v+1, сброс тура, ссылка на лог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АДАПТИВНАЯ КАЛИБРОВКА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Бот сам подстраивает параметры под текущий рынок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Регим-детектор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4937760" cy="635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Каждые 5 минут бот определяет режим каждой пары: trend / flat / high_vol. По ADX, ATR%, EMA-выравниванию, Hurst-экспоненте. Это видно в Дашборде как 'Состояние пар'.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4028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Walk-forward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834640"/>
            <a:ext cx="4937760" cy="635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9260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Раз в неделю (по умолчанию) запускается переподбор: обучение на N-дневном окне, тест на (N+7)-дневном. Шкала Sharpe-ratio определяет победителя.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799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9767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Challenger vs Champion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709159"/>
            <a:ext cx="4937760" cy="635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00599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Текущие параметры (champion) против переподобранных (challenger). Применяется только если Walk-forward Score новых выше. Без подтверждения - бот работает на старых.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14799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7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Откат одной кнопкой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709159"/>
            <a:ext cx="4937760" cy="635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800599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Если применили новый параметр и за 24-48 часов P&amp;L упал - в UI кнопка 'Откатить'. Возвращаются предыдущие значения. История всех калибровок хранится в БД.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УВЕДОМЛЕНИЯ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Бот сообщает что происходит - даже когда вы не за компьютером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4C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4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TELEGRAM-БОТ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A3328"/>
                </a:solidFill>
                <a:latin typeface="Calibri"/>
              </a:rPr>
              <a:t>Подключается одной строкой (BotFather token + chat_id). В UI - тест-сообщение. События: открытие сделки, kill-switch, broker_down, риск-блокировки.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9456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9B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2423160"/>
            <a:ext cx="1078992" cy="320040"/>
          </a:xfrm>
          <a:prstGeom prst="roundRect">
            <a:avLst>
              <a:gd name="adj" fmla="val 50000"/>
            </a:avLst>
          </a:prstGeom>
          <a:solidFill>
            <a:srgbClr val="9B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WEB-PUSH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01752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A3328"/>
                </a:solidFill>
                <a:latin typeface="Calibri"/>
              </a:rPr>
              <a:t>Стандартные браузерные уведомления через Service Worker. Работает когда дашборд открыт в браузере или мобильной PWA. VAPID-ключи в настройках.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19456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2423160"/>
            <a:ext cx="1883664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NATIVE (WINDOWS)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01752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A3328"/>
                </a:solidFill>
                <a:latin typeface="Calibri"/>
              </a:rPr>
              <a:t>Toast-уведомления Windows 10/11 через PyWebView мост. Активируются автоматически в десктоп-сборке. Полезно при работе с приложением в фоне.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СОБЫТИЯ КОТОРЫЕ ШЛЮТСЯ: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Открытие сделки · закрытие по SL/TP · kill-switch · брокер недоступен · risk_block · ошибка стратегии · успешная калибровка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Пароли брокера никогда не покидают ваш ПК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Vault (хранилище)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Все секреты (пароль MT5, API-ключи, Telegram-токены) хранятся в зашифрованном файле на вашем диске.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9456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Argon2id KDF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974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Ключ шифрования выводится через Argon2id (победитель PHC) с памятью 64 МБ и 3 итерациями - устойчиво к GPU-атакам.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Fernet AES-128-CBC + HMAC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Сам vault шифруется Fernet'ом: AES-128 в режиме CBC + HMAC-SHA256 для проверки целостности.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2044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Атомарная запись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Файл vault'а перезаписывается через tmp + rename - при крахе посередине сохранится либо старая, либо новая версия, никогда не битая.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Passwordless mode (v1.0.31+)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Ключ выводится из неподдельных атрибутов установки. Vault разблокируется автоматически - оператору не нужно помнить мастер-пароль.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84632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83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940"/>
                </a:solidFill>
                <a:latin typeface="Cambria"/>
              </a:rPr>
              <a:t>Локальный pip-only бэкенд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49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FastAPI слушает только 127.0.0.1, эфемерный порт. Извне ПК недоступен - даже на той же Wi-Fi.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Production-ready стек - всё что используется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Backend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26080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Python 3.13 · FastAPI · uvicorn (ASGI)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82112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9067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SQLAlchemy 2 (async) · aiosqlite · Alembic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38144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4670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MetaTrader5 SDK · CCXT · pandas · numpy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94176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0273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APScheduler · websockets · httpx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950208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5876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cryptography (Fernet, Argon2id)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9456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2377440"/>
            <a:ext cx="1078992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Frontend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926080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3464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React 18 · TypeScript · Vite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182112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09067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TanStack Query · React Router 6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3438144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34670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TailwindCSS · lucide-react · Cambria/Calibri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694176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60273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lightweight-charts (TradingView)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950208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85876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vite-plugin-pwa (Service Worker)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438912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Desktop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4937760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84632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PyWebView 5 · Edge WebView2 runtime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5193792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10235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PyInstaller onedir bundle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5449824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3583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Inno Setup installer (Windows)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" y="5705856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61441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Auto-update механизм встроен</a:t>
            </a:r>
          </a:p>
        </p:txBody>
      </p:sp>
      <p:sp>
        <p:nvSpPr>
          <p:cNvPr id="40" name="Oval 39"/>
          <p:cNvSpPr/>
          <p:nvPr/>
        </p:nvSpPr>
        <p:spPr>
          <a:xfrm>
            <a:off x="822960" y="5961888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7044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Single-instance + log rotation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20624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92240" y="438912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DevOps</a:t>
            </a:r>
          </a:p>
        </p:txBody>
      </p:sp>
      <p:sp>
        <p:nvSpPr>
          <p:cNvPr id="44" name="Oval 43"/>
          <p:cNvSpPr/>
          <p:nvPr/>
        </p:nvSpPr>
        <p:spPr>
          <a:xfrm>
            <a:off x="6537960" y="4937760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484632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GitHub Actions release.yml</a:t>
            </a:r>
          </a:p>
        </p:txBody>
      </p:sp>
      <p:sp>
        <p:nvSpPr>
          <p:cNvPr id="46" name="Oval 45"/>
          <p:cNvSpPr/>
          <p:nvPr/>
        </p:nvSpPr>
        <p:spPr>
          <a:xfrm>
            <a:off x="6537960" y="5193792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510235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Tag-driven version injection</a:t>
            </a:r>
          </a:p>
        </p:txBody>
      </p:sp>
      <p:sp>
        <p:nvSpPr>
          <p:cNvPr id="48" name="Oval 47"/>
          <p:cNvSpPr/>
          <p:nvPr/>
        </p:nvSpPr>
        <p:spPr>
          <a:xfrm>
            <a:off x="6537960" y="5449824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53583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Hermes-Setup-{ver}.exe + portable.zip</a:t>
            </a:r>
          </a:p>
        </p:txBody>
      </p:sp>
      <p:sp>
        <p:nvSpPr>
          <p:cNvPr id="50" name="Oval 49"/>
          <p:cNvSpPr/>
          <p:nvPr/>
        </p:nvSpPr>
        <p:spPr>
          <a:xfrm>
            <a:off x="6537960" y="5705856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561441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pytest (unit + e2e) · TypeScript strict</a:t>
            </a:r>
          </a:p>
        </p:txBody>
      </p:sp>
      <p:sp>
        <p:nvSpPr>
          <p:cNvPr id="52" name="Oval 51"/>
          <p:cNvSpPr/>
          <p:nvPr/>
        </p:nvSpPr>
        <p:spPr>
          <a:xfrm>
            <a:off x="6537960" y="5961888"/>
            <a:ext cx="54864" cy="54864"/>
          </a:xfrm>
          <a:prstGeom prst="ellipse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587044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SHA256SUMS для каждой сборки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УСТАНОВКА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Двойной клик - три минуты - готов к работе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2286000"/>
            <a:ext cx="640080" cy="64008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BF7E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Скачать Hermes-Setup.exe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С GitHub Releases - https://github.com/artsignstudiokz/Hermes. Размер ~110 МБ, подписан SHA256.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BF7EC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118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Двойной клик - 'Установить'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Inno Setup установщик. Прогресс-бар, лицензия, выбор папки. Без админских прав - в user-space.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BF7EC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MetaTrader 5 должен быть запущен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4924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Hermes использует уже залогиненный терминал. Без MT5 - бот покажет 'Брокер недоступен'.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286000"/>
            <a:ext cx="640080" cy="64008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BF7EC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860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Открыть Hermes - подключить брокера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69748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Брокеры → Добавить → MT5 → выбрать сервер из списка (Exness/IC Markets/etc.) → логин/пароль.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11880"/>
            <a:ext cx="640080" cy="64008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BF7EC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6118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Стратегия → Запустить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02336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Главная → Проверенный/Автономный. Бот стартует, анализирует пары, ищет точки входа.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4937760"/>
            <a:ext cx="640080" cy="640080"/>
          </a:xfrm>
          <a:prstGeom prst="ellipse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BF7EC"/>
                </a:solidFill>
                <a:latin typeface="Cambr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9377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Обновления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34924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Hermes сам проверяет новые версии. Кнопка 'Обновить' в Настройках. Установщик новой версии ставится поверх, БД и vault сохраняются.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КАЧЕСТВО КОДА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Многоуровневая валидация на всём пути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7A5A1E"/>
                </a:solidFill>
                <a:latin typeface="Cambria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Pytest-тестов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unit +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945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7A5A1E"/>
                </a:solidFill>
                <a:latin typeface="Cambr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200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TypeScript strict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520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noUncheckedIndexedAccess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7A5A1E"/>
                </a:solidFill>
                <a:latin typeface="Cambria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Индикаторов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20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технического анализа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1945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3774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7A5A1E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00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Стратегии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520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независимых ансамбля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233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7A5A1E"/>
                </a:solidFill>
                <a:latin typeface="Cambr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29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Risk-контура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независимых breaker'а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40233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2062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7A5A1E"/>
                </a:solidFill>
                <a:latin typeface="Cambria"/>
              </a:rPr>
              <a:t>60с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029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Tick-интервал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каждый цикл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0233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062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7A5A1E"/>
                </a:solidFill>
                <a:latin typeface="Cambria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029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Экранов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в 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40233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42062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7A5A1E"/>
                </a:solidFill>
                <a:latin typeface="Cambria"/>
              </a:rP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5029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2940"/>
                </a:solidFill>
                <a:latin typeface="Cambria"/>
              </a:rPr>
              <a:t>Релизов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E7163"/>
                </a:solidFill>
                <a:latin typeface="Consolas"/>
              </a:rPr>
              <a:t>за май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7E7163"/>
                </a:solidFill>
                <a:latin typeface="Calibri"/>
              </a:rPr>
              <a:t>CI прогоняет тесты на каждый коммит. Релизы пушатся только из main с зелёным CI.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ДОРОЖНАЯ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940"/>
                </a:solidFill>
                <a:latin typeface="Cambria"/>
              </a:rPr>
              <a:t>Что уже работает · что ближайшее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4C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4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ГОТОВО · v1.0.40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971800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Дашборд с live-данными (WebSocket)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64408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729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MT5 + watchdog с авто-переподключением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57016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655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4 стратегии × 19 индикаторов · объяснимые сигналы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49624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Risk Engine (3 контура) + брокерские SL/TP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42232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507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Два режима: Проверенный + Автономный + Тест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434840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43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Журнал сделок с заметками оператора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727448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636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Walk-forward калибровка с откатом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020056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2861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Telegram + Web-push + Native уведомления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312664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2212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PWA для мобильного через ngrok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5605272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5138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Бэктест с CSV-загрузкой истории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897880"/>
            <a:ext cx="118872" cy="118872"/>
          </a:xfrm>
          <a:prstGeom prst="ellipse">
            <a:avLst/>
          </a:prstGeom>
          <a:solidFill>
            <a:srgbClr val="4C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328"/>
                </a:solidFill>
                <a:latin typeface="Calibri"/>
              </a:rPr>
              <a:t>Auto-update через GitHub Releases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19456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15240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237744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900" b="1">
                <a:solidFill>
                  <a:srgbClr val="FBF7EC"/>
                </a:solidFill>
                <a:latin typeface="Consolas"/>
              </a:rPr>
              <a:t>В РАЗРАБОТКЕ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583680" y="2971800"/>
            <a:ext cx="228600" cy="164592"/>
          </a:xfrm>
          <a:prstGeom prst="rightArrow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Расширение библиотеки стратегий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583680" y="3447288"/>
            <a:ext cx="228600" cy="164592"/>
          </a:xfrm>
          <a:prstGeom prst="rightArrow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33558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Multi-broker одновременно (MT5 + крипта)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583680" y="3922776"/>
            <a:ext cx="228600" cy="164592"/>
          </a:xfrm>
          <a:prstGeom prst="rightArrow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383133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Облачная синхронизация Trade Journal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583680" y="4398264"/>
            <a:ext cx="228600" cy="164592"/>
          </a:xfrm>
          <a:prstGeom prst="rightArrow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4306824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Сценарии входа из ML-моделей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583680" y="4873752"/>
            <a:ext cx="228600" cy="164592"/>
          </a:xfrm>
          <a:prstGeom prst="rightArrow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47823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Поддержка macOS (нативный билд)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6583680" y="5349240"/>
            <a:ext cx="228600" cy="164592"/>
          </a:xfrm>
          <a:prstGeom prst="rightArrow">
            <a:avLst/>
          </a:prstGeom>
          <a:solidFill>
            <a:srgbClr val="7A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5257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A3328"/>
                </a:solidFill>
                <a:latin typeface="Calibri"/>
              </a:rPr>
              <a:t>REST API для внешних клиентов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BAI Core · Hermes Trading Bot · v1.0.40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E7163"/>
                </a:solidFill>
                <a:latin typeface="Consolas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5A1E"/>
                </a:solidFill>
                <a:latin typeface="Consolas"/>
              </a:rPr>
              <a:t>BAI CORE ·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1B2940"/>
                </a:solidFill>
                <a:latin typeface="Cambria"/>
              </a:rPr>
              <a:t>Спасибо.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2286000" cy="25400"/>
          </a:xfrm>
          <a:prstGeom prst="rect">
            <a:avLst/>
          </a:prstGeom>
          <a:solidFill>
            <a:srgbClr val="A88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5A1E"/>
                </a:solidFill>
                <a:latin typeface="Cambria"/>
              </a:rPr>
              <a:t>Готовы запустить бот в работу.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7E7163"/>
                </a:solidFill>
                <a:latin typeface="Calibri"/>
              </a:rPr>
              <a:t>Один установщик. Полный контроль. Объяснимые решения. Производственная стабильность.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2064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F7EFD9"/>
          </a:solidFill>
          <a:ln w="9525">
            <a:solidFill>
              <a:srgbClr val="A8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940"/>
                </a:solidFill>
                <a:latin typeface="Cambria"/>
              </a:rPr>
              <a:t>baicore.kz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623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E7163"/>
                </a:solidFill>
                <a:latin typeface="Consolas"/>
              </a:rPr>
              <a:t>github.com/artsignstudiokz/Hermes · support@baicore.kz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